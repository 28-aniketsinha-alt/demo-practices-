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lang="en-IN" sz="1400" b="0" i="0" u="none" strike="noStrike">
                <a:solidFill>
                  <a:srgbClr val="1E2761"/>
                </a:solidFill>
                <a:latin typeface="Cambria"/>
              </a:rPr>
              <a:t>Quarterly Revenue (USD Million)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 mn)</c:v>
                </c:pt>
              </c:strCache>
            </c:strRef>
          </c:tx>
          <c:spPr>
            <a:ln w="38100" cap="flat">
              <a:solidFill>
                <a:srgbClr val="F2994A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2994A"/>
              </a:solidFill>
              <a:ln w="9525" cap="flat">
                <a:solidFill>
                  <a:srgbClr val="F2994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Q1 FY24</c:v>
                </c:pt>
                <c:pt idx="1">
                  <c:v>Q2 FY24</c:v>
                </c:pt>
                <c:pt idx="2">
                  <c:v>Q3 FY24</c:v>
                </c:pt>
                <c:pt idx="3">
                  <c:v>Q4 FY24</c:v>
                </c:pt>
                <c:pt idx="4">
                  <c:v>Q1 FY25</c:v>
                </c:pt>
                <c:pt idx="5">
                  <c:v>Q2 FY25</c:v>
                </c:pt>
                <c:pt idx="6">
                  <c:v>Q3 FY25</c:v>
                </c:pt>
                <c:pt idx="7">
                  <c:v>Q4 FY25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379.62</c:v>
                </c:pt>
                <c:pt idx="1">
                  <c:v>315.47000000000003</c:v>
                </c:pt>
                <c:pt idx="2">
                  <c:v>345.93</c:v>
                </c:pt>
                <c:pt idx="3">
                  <c:v>384.41</c:v>
                </c:pt>
                <c:pt idx="4">
                  <c:v>476.91</c:v>
                </c:pt>
                <c:pt idx="5">
                  <c:v>412.15</c:v>
                </c:pt>
                <c:pt idx="6">
                  <c:v>424.61</c:v>
                </c:pt>
                <c:pt idx="7">
                  <c:v>437.5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B3-436E-83E2-E2E125802C4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6B7280"/>
                    </a:solidFill>
                    <a:latin typeface="Arial"/>
                  </a:rPr>
                  <a:t>USD Million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1E2761"/>
                </a:solidFill>
                <a:latin typeface="Cambria"/>
              </a:rPr>
              <a:t>Revenue by Region (USD Million)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 mn)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2B9-4ACE-B5D0-A88D69B9E5B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2B9-4ACE-B5D0-A88D69B9E5B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2B9-4ACE-B5D0-A88D69B9E5B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2B9-4ACE-B5D0-A88D69B9E5BC}"/>
              </c:ext>
            </c:extLst>
          </c:dPt>
          <c:dPt>
            <c:idx val="4"/>
            <c:invertIfNegative val="0"/>
            <c:bubble3D val="0"/>
            <c:spPr>
              <a:solidFill>
                <a:srgbClr val="F29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2B9-4ACE-B5D0-A88D69B9E5B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Middle East &amp; Africa</c:v>
                </c:pt>
                <c:pt idx="1">
                  <c:v>Latin America</c:v>
                </c:pt>
                <c:pt idx="2">
                  <c:v>Europe</c:v>
                </c:pt>
                <c:pt idx="3">
                  <c:v>Asia Pacific</c:v>
                </c:pt>
                <c:pt idx="4">
                  <c:v>North America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367.41</c:v>
                </c:pt>
                <c:pt idx="1">
                  <c:v>440.2</c:v>
                </c:pt>
                <c:pt idx="2">
                  <c:v>713.26</c:v>
                </c:pt>
                <c:pt idx="3">
                  <c:v>755.23</c:v>
                </c:pt>
                <c:pt idx="4">
                  <c:v>900.5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2B9-4ACE-B5D0-A88D69B9E5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mbria"/>
              </a:rPr>
              <a:t>Revenue by Business Segment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 mn)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Intelligent Cloud</c:v>
                </c:pt>
                <c:pt idx="1">
                  <c:v>Productivity &amp; Biz Processes</c:v>
                </c:pt>
                <c:pt idx="2">
                  <c:v>More Personal Computing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1616.06</c:v>
                </c:pt>
                <c:pt idx="1">
                  <c:v>1112.33</c:v>
                </c:pt>
                <c:pt idx="2">
                  <c:v>448.21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70-4AE5-99DE-2E3DBBAF0C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mbria"/>
              </a:rPr>
              <a:t>Revenue by Product Line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 mn)</c:v>
                </c:pt>
              </c:strCache>
            </c:strRef>
          </c:tx>
          <c:spPr>
            <a:solidFill>
              <a:srgbClr val="F299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Azure</c:v>
                </c:pt>
                <c:pt idx="1">
                  <c:v>Windows Server</c:v>
                </c:pt>
                <c:pt idx="2">
                  <c:v>GitHub</c:v>
                </c:pt>
                <c:pt idx="3">
                  <c:v>LinkedIn</c:v>
                </c:pt>
                <c:pt idx="4">
                  <c:v>Office 365</c:v>
                </c:pt>
                <c:pt idx="5">
                  <c:v>Dynamics 365</c:v>
                </c:pt>
                <c:pt idx="6">
                  <c:v>Surface</c:v>
                </c:pt>
                <c:pt idx="7">
                  <c:v>Windows</c:v>
                </c:pt>
                <c:pt idx="8">
                  <c:v>Xbox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587.04999999999995</c:v>
                </c:pt>
                <c:pt idx="1">
                  <c:v>556.17999999999995</c:v>
                </c:pt>
                <c:pt idx="2">
                  <c:v>472.83</c:v>
                </c:pt>
                <c:pt idx="3">
                  <c:v>431.61</c:v>
                </c:pt>
                <c:pt idx="4">
                  <c:v>369.58</c:v>
                </c:pt>
                <c:pt idx="5">
                  <c:v>311.14</c:v>
                </c:pt>
                <c:pt idx="6">
                  <c:v>181.01</c:v>
                </c:pt>
                <c:pt idx="7">
                  <c:v>145.76</c:v>
                </c:pt>
                <c:pt idx="8">
                  <c:v>121.44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02-490F-9229-672FA386FA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mbria"/>
              </a:rPr>
              <a:t>Average Satisfaction Score by Region &amp; Customer Type (out of 10)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Consumer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Asia Pacific</c:v>
                </c:pt>
                <c:pt idx="1">
                  <c:v>Europe</c:v>
                </c:pt>
                <c:pt idx="2">
                  <c:v>Latin America</c:v>
                </c:pt>
                <c:pt idx="3">
                  <c:v>Middle East &amp; Africa</c:v>
                </c:pt>
                <c:pt idx="4">
                  <c:v>North America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7.45</c:v>
                </c:pt>
                <c:pt idx="1">
                  <c:v>8.35</c:v>
                </c:pt>
                <c:pt idx="2">
                  <c:v>7.82</c:v>
                </c:pt>
                <c:pt idx="3">
                  <c:v>7.41</c:v>
                </c:pt>
                <c:pt idx="4">
                  <c:v>7.15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00-4B6E-B47C-67F84C6F82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Enterprise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Asia Pacific</c:v>
                </c:pt>
                <c:pt idx="1">
                  <c:v>Europe</c:v>
                </c:pt>
                <c:pt idx="2">
                  <c:v>Latin America</c:v>
                </c:pt>
                <c:pt idx="3">
                  <c:v>Middle East &amp; Africa</c:v>
                </c:pt>
                <c:pt idx="4">
                  <c:v>North America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7.65</c:v>
                </c:pt>
                <c:pt idx="1">
                  <c:v>7.94</c:v>
                </c:pt>
                <c:pt idx="2">
                  <c:v>8.06</c:v>
                </c:pt>
                <c:pt idx="3">
                  <c:v>7.6</c:v>
                </c:pt>
                <c:pt idx="4">
                  <c:v>7.96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00-4B6E-B47C-67F84C6F828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SMB</c:v>
                </c:pt>
              </c:strCache>
            </c:strRef>
          </c:tx>
          <c:spPr>
            <a:solidFill>
              <a:srgbClr val="F2994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Asia Pacific</c:v>
                </c:pt>
                <c:pt idx="1">
                  <c:v>Europe</c:v>
                </c:pt>
                <c:pt idx="2">
                  <c:v>Latin America</c:v>
                </c:pt>
                <c:pt idx="3">
                  <c:v>Middle East &amp; Africa</c:v>
                </c:pt>
                <c:pt idx="4">
                  <c:v>North America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7.8</c:v>
                </c:pt>
                <c:pt idx="1">
                  <c:v>7.41</c:v>
                </c:pt>
                <c:pt idx="2">
                  <c:v>7.64</c:v>
                </c:pt>
                <c:pt idx="3">
                  <c:v>7.2</c:v>
                </c:pt>
                <c:pt idx="4">
                  <c:v>7.87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600-4B6E-B47C-67F84C6F82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.6"/>
          <c:min val="6.5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1677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SADM GROUP PROJECT  •  GROUP 2  •  FY26 PLANNING CYCLE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Corporation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&amp; Segment Performance Analysis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68680" y="3520440"/>
            <a:ext cx="2011680" cy="0"/>
          </a:xfrm>
          <a:prstGeom prst="line">
            <a:avLst/>
          </a:prstGeom>
          <a:noFill/>
          <a:ln w="38100">
            <a:solidFill>
              <a:srgbClr val="F299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4904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9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recommendations for FY26, built on FY24–FY25 quarterly performance data across five regions and three business segments.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806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60533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– Microsoft  |  [Add team member names]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 &amp; Objective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577840" cy="4754880"/>
          </a:xfrm>
          <a:prstGeom prst="roundRect">
            <a:avLst>
              <a:gd name="adj" fmla="val 1538"/>
            </a:avLst>
          </a:prstGeom>
          <a:solidFill>
            <a:srgbClr val="E9EFF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002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ROLE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 Intern, Corporate Strategy team — asked by the Head of Strategy to analyze two fiscal years of quarterly sales performance (FY24–FY25) and recommend where to focus for FY26.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182112"/>
            <a:ext cx="201168" cy="20116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821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&amp; segments are driving profitable growth?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85032"/>
            <a:ext cx="201168" cy="20116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850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" y="3611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high operating costs eating into profit?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187952"/>
            <a:ext cx="201168" cy="20116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87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lines / customer types deserve more FY26 investment?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690872"/>
            <a:ext cx="201168" cy="20116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908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customer satisfaction slipping, and what needs correction?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1371600"/>
            <a:ext cx="5468112" cy="4754880"/>
          </a:xfrm>
          <a:prstGeom prst="roundRect">
            <a:avLst>
              <a:gd name="adj" fmla="val 1538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600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19202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simulated transaction-level records, FY24–FY25 (figures are simulated for academic use).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0" y="260604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141B45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2660904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quarters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95360" y="2660904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FY24 → Q4 FY25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83680" y="333756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141B45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3392424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regions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95360" y="3392424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NA, Europe, APAC, LatAm, MEA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0" y="406908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141B45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4123944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business segments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95360" y="4123944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&amp; Biz Processes, Intelligent Cloud, More Personal Computing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83680" y="480060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141B45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4855464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product lines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95360" y="4855464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Azure, Office 365, LinkedIn, Windows, Xbox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583680" y="553212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141B45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5586984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customer types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595360" y="5586984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Enterprise, SMB, Consumer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Corporation | Regional &amp; Segment Performance Analysis FY24–FY25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KPI Snapshot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42032" cy="1371600"/>
          </a:xfrm>
          <a:prstGeom prst="roundRect">
            <a:avLst>
              <a:gd name="adj" fmla="val 5333"/>
            </a:avLst>
          </a:prstGeom>
          <a:solidFill>
            <a:srgbClr val="E9EFFB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01368"/>
            <a:ext cx="235915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$3,176.6M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27832" y="1417320"/>
            <a:ext cx="2542032" cy="1371600"/>
          </a:xfrm>
          <a:prstGeom prst="roundRect">
            <a:avLst>
              <a:gd name="adj" fmla="val 5333"/>
            </a:avLst>
          </a:prstGeom>
          <a:solidFill>
            <a:srgbClr val="E9EFFB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9272" y="1801368"/>
            <a:ext cx="235915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831,972.5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19272" y="2350008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SOLD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98464" y="1417320"/>
            <a:ext cx="2542032" cy="1371600"/>
          </a:xfrm>
          <a:prstGeom prst="roundRect">
            <a:avLst>
              <a:gd name="adj" fmla="val 5333"/>
            </a:avLst>
          </a:prstGeom>
          <a:solidFill>
            <a:srgbClr val="E9EFFB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9904" y="1801368"/>
            <a:ext cx="235915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$2,080.4M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89904" y="2350008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OPERATING COST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69096" y="1417320"/>
            <a:ext cx="2542032" cy="1371600"/>
          </a:xfrm>
          <a:prstGeom prst="roundRect">
            <a:avLst>
              <a:gd name="adj" fmla="val 5333"/>
            </a:avLst>
          </a:prstGeom>
          <a:solidFill>
            <a:srgbClr val="E9EFFB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0536" y="1801368"/>
            <a:ext cx="235915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$1,096.2M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860536" y="2350008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10835640" cy="1417320"/>
          </a:xfrm>
          <a:prstGeom prst="roundRect">
            <a:avLst>
              <a:gd name="adj" fmla="val 5161"/>
            </a:avLst>
          </a:prstGeom>
          <a:solidFill>
            <a:srgbClr val="E9EFF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QUARTER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639312"/>
            <a:ext cx="5029200" cy="731520"/>
          </a:xfrm>
          <a:prstGeom prst="roundRect">
            <a:avLst>
              <a:gd name="adj" fmla="val 7500"/>
            </a:avLst>
          </a:prstGeom>
          <a:solidFill>
            <a:srgbClr val="2FA79B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712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HIGHEST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96849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FY25  —  $156.13M profit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89320" y="3639312"/>
            <a:ext cx="5029200" cy="731520"/>
          </a:xfrm>
          <a:prstGeom prst="roundRect">
            <a:avLst>
              <a:gd name="adj" fmla="val 7500"/>
            </a:avLst>
          </a:prstGeom>
          <a:solidFill>
            <a:srgbClr val="D64550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3712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LOWEST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96849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FY24  —  $112.85M profit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4709160"/>
            <a:ext cx="108356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846320"/>
            <a:ext cx="10378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MANAGERIAL TAKEAWAY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5166360"/>
            <a:ext cx="10378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generated $1,096.2M in profit on $3,176.6M revenue (~34.5% margin) across the two years. Profitability swings quarter to quarter — FY26 planning should investigate what drove the strong Q1 FY25 result and what pressured margins in Q3 FY24, so the peak becomes repeatable rather than a one-off.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Corporation | Regional &amp; Segment Performance Analysis FY24–FY25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Trend — FY24 vs FY25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68580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417320"/>
            <a:ext cx="3749040" cy="3931920"/>
          </a:xfrm>
          <a:prstGeom prst="roundRect">
            <a:avLst>
              <a:gd name="adj" fmla="val 1951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0" y="1874520"/>
            <a:ext cx="32918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overall — from $379.6M in Q1 FY24 to $437.5M in Q4 FY25 — but the path isn't a straight line. Both years dip in Q2 before recovering, and FY25 sits consistently above FY24.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implication: build the plan around steady underlying growth, but budget for a seasonal Q2 softness rather than treating it as a one-off risk.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Corporation | Regional &amp; Segment Performance Analysis FY24–FY25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Performance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68580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417320"/>
            <a:ext cx="3749040" cy="2148840"/>
          </a:xfrm>
          <a:prstGeom prst="roundRect">
            <a:avLst>
              <a:gd name="adj" fmla="val 3404"/>
            </a:avLst>
          </a:prstGeom>
          <a:solidFill>
            <a:srgbClr val="E9EFFB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5727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F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America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0" y="22128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$900.5M revenue — the clear #1 region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0" y="2651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0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 East &amp; Africa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772400" y="3291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$367.4M revenue — less than half of NA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543800" y="374904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0" y="3886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0" y="420624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should investigate demand generation, customer coverage, and local execution in Middle East &amp; Africa — the gap to even the next-weakest region (Latin America) suggests a structural, fixable issue rather than market size alone.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Corporation | Regional &amp; Segment Performance Analysis FY24–FY25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Segment &amp; Product Line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417320"/>
          <a:ext cx="54864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989320" y="1417320"/>
          <a:ext cx="57607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828032"/>
            <a:ext cx="5623560" cy="1298448"/>
          </a:xfrm>
          <a:prstGeom prst="roundRect">
            <a:avLst>
              <a:gd name="adj" fmla="val 5634"/>
            </a:avLst>
          </a:prstGeom>
          <a:solidFill>
            <a:srgbClr val="2FA79B"/>
          </a:solidFill>
          <a:ln/>
        </p:spPr>
      </p:sp>
      <p:sp>
        <p:nvSpPr>
          <p:cNvPr id="7" name="Text 3"/>
          <p:cNvSpPr/>
          <p:nvPr/>
        </p:nvSpPr>
        <p:spPr>
          <a:xfrm>
            <a:off x="594360" y="493776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MORE IN FY26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94360" y="519379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Cloud segment &amp; Azure product line — largest revenue base and clearest growth momentum.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172200" y="4828032"/>
            <a:ext cx="5577840" cy="1298448"/>
          </a:xfrm>
          <a:prstGeom prst="roundRect">
            <a:avLst>
              <a:gd name="adj" fmla="val 5634"/>
            </a:avLst>
          </a:prstGeom>
          <a:solidFill>
            <a:srgbClr val="D64550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0" y="493776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0" y="5193792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&amp; Business Processes segment &amp; Dynamics 365 product line are underperforming and should be reviewed.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Corporation | Regional &amp; Segment Performance Analysis FY24–FY25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Satisfaction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69494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41732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D64550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5727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OVERALL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63840" y="18470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 East &amp; Africa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863840" y="2240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7.35 / 10 average — lowest of all 5 regions, and weakest in every customer type except Enterprise.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35240" y="32918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0" y="3429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63840" y="374904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urgently on customer support and service quality in Middle East &amp; Africa — particularly for SMB and Consumer accounts, where its scores trail every other region.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Corporation | Regional &amp; Segment Performance Analysis FY24–FY25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Testing — Regional Satisfaction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835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being tested: “Enterprise customers report similarly satisfied levels no matter which region serves them.”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E9EFF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03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(Null Hypothesis)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395728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Enterprise satisfaction is equal across all five regions.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0" y="196596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9EFFB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2103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(Alternative Hypothesis)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72200" y="2395728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region's mean Enterprise satisfaction differs from the others.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10835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used: One-Way ANOVA (5 groups)  •  Significance level: α = 0.05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86200"/>
          <a:ext cx="10835640" cy="777240"/>
        </p:xfrm>
        <a:graphic>
          <a:graphicData uri="http://schemas.openxmlformats.org/drawingml/2006/table">
            <a:tbl>
              <a:tblPr/>
              <a:tblGrid>
                <a:gridCol w="2708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8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8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8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Statistic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Critical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FA7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 to reject H₀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4892040"/>
            <a:ext cx="10835640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5029200"/>
            <a:ext cx="10378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TELL MANAGEMENT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" y="5349240"/>
            <a:ext cx="10378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p = 0.651 is far above 0.05, we fail to reject H₀: Enterprise satisfaction is statistically similar across all five regions — the regional leadership's belief holds, and no single region is significantly pulling the average down. That said, Asia Pacific (7.65) and Middle East &amp; Africa (7.60) have the numerically lowest means, so management may still want to monitor these two proactively.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Corporation | Regional &amp; Segment Performance Analysis FY24–FY25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7–9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— What Drives Revenue?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835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(dependent): Revenue (USD Million)          X candidates: Units Sold • Operating Cost • Customer Satisfaction Score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E9EFF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84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 vs  REVENUE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0.65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positive relationship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715000" y="192024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89320" y="20848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COST  vs  REVENUE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9320" y="23774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0.97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989320" y="3063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positive relationship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10835640" cy="1051560"/>
          </a:xfrm>
          <a:prstGeom prst="roundRect">
            <a:avLst>
              <a:gd name="adj" fmla="val 6957"/>
            </a:avLst>
          </a:prstGeom>
          <a:solidFill>
            <a:srgbClr val="E9EFF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069080"/>
            <a:ext cx="10378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PATTERN CONFIRMS 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370832"/>
            <a:ext cx="10378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vs Units Sold scatter plot shows a moderate, fairly wide-spread positive trend — visually matching r = 0.65. The spread confirms units sold alone doesn't fully predict revenue: some low-volume transactions generate high revenue and vice versa.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5120640"/>
            <a:ext cx="108356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257800"/>
            <a:ext cx="10378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MANAGERIAL TAKEAWAY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577840"/>
            <a:ext cx="10378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tracks operating cost far more tightly than it tracks unit volume. This tells management that deal scale / cost of delivery — not just “sell more units” — is what really drives the top line. High-value, higher-cost engagements matter more than volume alone.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Corporation | Regional &amp; Segment Performance Analysis FY24–FY25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10–11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Models &amp; FY26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E9EFF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 ~  UNITS SOLD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8105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= 0.48 + 0.0037 × Units Sold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1762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0.43   •   Significant (p &lt; 0.001)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514600"/>
            <a:ext cx="47548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06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@ 5,000 units sold → ~$18.9M revenue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extra unit sold adds ~$3,681 in revenue. Units explain 43% of revenue variation — the rest comes from pricing, product mix and customer type.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137160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E9EFF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89320" y="1508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 ~  CUSTOMER SATISFACTION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89320" y="18105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= 13.62 − 0.043 × Satisfaction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89320" y="217627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0.00   •   Not significant (p = 0.95)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9320" y="2514600"/>
            <a:ext cx="51206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has virtually no direct, short-term revenue effect in this data.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89320" y="29260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doesn't mean satisfaction is unimportant — it drives long-term retention and loyalty. Invest in customer experience, but don't expect immediate revenue lift from it.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13632"/>
            <a:ext cx="1083564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069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RECOMMENDATIONS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4462272"/>
            <a:ext cx="164592" cy="164592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69848" y="4361688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Intelligent Cloud &amp; Azure — the clearest, largest revenue engines.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5029200"/>
            <a:ext cx="164592" cy="164592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69848" y="4928616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Middle East &amp; Africa — weakest region on both revenue and satisfaction; investigate coverage and service quality.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5596128"/>
            <a:ext cx="164592" cy="164592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5" name="Text 23"/>
          <p:cNvSpPr/>
          <p:nvPr/>
        </p:nvSpPr>
        <p:spPr>
          <a:xfrm>
            <a:off x="1069848" y="5495544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a Q2 seasonal dip while continuing to build on the underlying growth trend.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4462272"/>
            <a:ext cx="164592" cy="164592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7" name="Text 25"/>
          <p:cNvSpPr/>
          <p:nvPr/>
        </p:nvSpPr>
        <p:spPr>
          <a:xfrm>
            <a:off x="6647688" y="4361688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Productivity &amp; Business Processes / Dynamics 365 performance before committing further investment.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55080" y="5029200"/>
            <a:ext cx="164592" cy="164592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9" name="Text 27"/>
          <p:cNvSpPr/>
          <p:nvPr/>
        </p:nvSpPr>
        <p:spPr>
          <a:xfrm>
            <a:off x="6647688" y="4928616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deal scale and operating efficiency over raw unit volume — cost of delivery correlates far more strongly with revenue.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55080" y="5596128"/>
            <a:ext cx="164592" cy="164592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1" name="Text 29"/>
          <p:cNvSpPr/>
          <p:nvPr/>
        </p:nvSpPr>
        <p:spPr>
          <a:xfrm>
            <a:off x="6647688" y="5495544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investing in customer experience for long-term retention, but track it separately from short-term revenue targets.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Corporation | Regional &amp; Segment Performance Analysis FY24–FY25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Interactive Excel 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dashboard (Excel) supporting all deliverables above — KPI cards, six charts, and management takeaways.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Corporation | Regional &amp; Segment Performance Analysis FY24–FY25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DDA1AB-C6E5-466A-BB19-14AEAF121F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4754"/>
          <a:stretch/>
        </p:blipFill>
        <p:spPr>
          <a:xfrm>
            <a:off x="2286000" y="1597764"/>
            <a:ext cx="7135907" cy="41995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1314</Words>
  <Application>Microsoft Office PowerPoint</Application>
  <PresentationFormat>Widescreen</PresentationFormat>
  <Paragraphs>166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ANIKET SINHA</cp:lastModifiedBy>
  <cp:revision>3</cp:revision>
  <dcterms:created xsi:type="dcterms:W3CDTF">2026-09-13T04:21:02Z</dcterms:created>
  <dcterms:modified xsi:type="dcterms:W3CDTF">2026-09-13T17:32:11Z</dcterms:modified>
</cp:coreProperties>
</file>